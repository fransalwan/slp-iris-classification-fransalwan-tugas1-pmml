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C1E48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2C1E48"/>
                </a:solidFill>
                <a:latin typeface="Cambria"/>
              </a:rPr>
              <a:t>Akurasi per Epoch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44306E"/>
            </a:solidFill>
            <a:ln w="38100" cap="flat">
              <a:solidFill>
                <a:srgbClr val="443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4306E"/>
              </a:solidFill>
              <a:ln w="9525" cap="flat">
                <a:solidFill>
                  <a:srgbClr val="443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52.5</c:v>
                </c:pt>
                <c:pt idx="1">
                  <c:v>93.75</c:v>
                </c:pt>
                <c:pt idx="2">
                  <c:v>97.5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5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58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D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5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C1E48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2C1E48"/>
                </a:solidFill>
                <a:latin typeface="Cambria"/>
              </a:rPr>
              <a:t>Loss (MSE)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44306E"/>
            </a:solidFill>
            <a:ln w="38100" cap="flat">
              <a:solidFill>
                <a:srgbClr val="443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4306E"/>
              </a:solidFill>
              <a:ln w="9525" cap="flat">
                <a:solidFill>
                  <a:srgbClr val="443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0.44715463</c:v>
                </c:pt>
                <c:pt idx="1">
                  <c:v>0.04486284</c:v>
                </c:pt>
                <c:pt idx="2">
                  <c:v>0.0238117</c:v>
                </c:pt>
                <c:pt idx="3">
                  <c:v>0.01511584</c:v>
                </c:pt>
                <c:pt idx="4">
                  <c:v>0.01083626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D9A441"/>
            </a:solidFill>
            <a:ln w="381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0.28755158</c:v>
                </c:pt>
                <c:pt idx="1">
                  <c:v>0.15501014</c:v>
                </c:pt>
                <c:pt idx="2">
                  <c:v>0.07774028</c:v>
                </c:pt>
                <c:pt idx="3">
                  <c:v>0.04165461</c:v>
                </c:pt>
                <c:pt idx="4">
                  <c:v>0.02509921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65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E658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12700" cap="flat">
              <a:solidFill>
                <a:srgbClr val="ED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65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1 - Single Layer Perceptron. Frans Alwan Purba, NIM 25/563545/PPA/07116.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akurasi yang diambil dari spreadsheet. Perhatikan akurasi validation yang tertahan di 50% pada dua epoch pertama.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yang sama, tapi dihasilkan matplotlib dari kode Python. Tabel di bawah sengaja diulang agar mudah dibandingkan dengan halaman sebelumnya.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loss dari spreadsheet. Penurunan terbesar terjadi sekali di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Tanpa penyesuaian nomor 3, MSE validation epoch 1 keluar 0.29054 dan bukan 0.28755.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kedua URL placeholder dengan tautan sebenarnya sebelum diunggah ke SIMASTER. Pastikan sharing Google Sheets diset ke 'Anyone with the link can view' dan repositori GitHub bersifat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554480"/>
            <a:ext cx="4937760" cy="4937760"/>
          </a:xfrm>
          <a:prstGeom prst="ellipse">
            <a:avLst/>
          </a:prstGeom>
          <a:solidFill>
            <a:srgbClr val="44306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206240"/>
            <a:ext cx="3108960" cy="3108960"/>
          </a:xfrm>
          <a:prstGeom prst="ellipse">
            <a:avLst/>
          </a:prstGeom>
          <a:solidFill>
            <a:srgbClr val="D9A441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— PEMBELAJARAN MESIN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Layer Perceptron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Klasifikasi Bunga Iris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biner Iris Setosa (0) vs Iris Versicolor (1)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274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57200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Frans Alwan Purba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 25/563545/PPA/07116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949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Ilmu Komputer — Program Pascasarjana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Chart — Training &amp;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perhitungan manual pada Google Sheets (sheet Epoch 1–5 dan Hasil dan Visualisasi)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4040" y="38404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4430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371600"/>
          <a:ext cx="7680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481328"/>
            <a:ext cx="3017520" cy="3657600"/>
          </a:xfrm>
          <a:prstGeom prst="roundRect">
            <a:avLst>
              <a:gd name="adj" fmla="val 2424"/>
            </a:avLst>
          </a:prstGeom>
          <a:solidFill>
            <a:srgbClr val="F4F1F9"/>
          </a:solidFill>
          <a:ln w="9525">
            <a:solidFill>
              <a:srgbClr val="C7B8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1691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Pembacaan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103120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validation mencapai 100% sejak epoch 3 dan bertahan sampai epoch 5.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epoch 1–2 nilainya 50% karena seluruh data validation masih diprediksi sebagai Versicolor — 10 dari 20 kebetulan benar.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training naik lebih dulu karena bobot ikut berubah di tengah epoch.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4864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55648"/>
                <a:gridCol w="1755648"/>
                <a:gridCol w="1755648"/>
                <a:gridCol w="1755648"/>
                <a:gridCol w="175564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Chart — Training &amp;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keluaran kode Python (matplotlib) — angka identik dengan Google Sheets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4040" y="38404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76809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481328"/>
            <a:ext cx="3017520" cy="3657600"/>
          </a:xfrm>
          <a:prstGeom prst="roundRect">
            <a:avLst>
              <a:gd name="adj" fmla="val 2424"/>
            </a:avLst>
          </a:prstGeom>
          <a:solidFill>
            <a:srgbClr val="2C1E4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23960" y="1691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103120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nilai akurasi training dan validation dari kode Python sama persis dengan halaman sebelumnya.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akhir juga cocok sampai 11 digit di belakang koma: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= 0.22708411127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θ₃ = 1.31082264837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4864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55648"/>
                <a:gridCol w="1755648"/>
                <a:gridCol w="1755648"/>
                <a:gridCol w="1755648"/>
                <a:gridCol w="175564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Chart (MSE) — Training &amp;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perhitungan manual pada Google Sheets — MSE = rata-rata Sum Square Error per epoch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4040" y="38404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4430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371600"/>
          <a:ext cx="7680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49640" y="1481328"/>
            <a:ext cx="3017520" cy="3657600"/>
          </a:xfrm>
          <a:prstGeom prst="roundRect">
            <a:avLst>
              <a:gd name="adj" fmla="val 2424"/>
            </a:avLst>
          </a:prstGeom>
          <a:solidFill>
            <a:srgbClr val="F4F1F9"/>
          </a:solidFill>
          <a:ln w="9525">
            <a:solidFill>
              <a:srgbClr val="C7B8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1691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Pembacaan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103120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training turun dari 0.4472 ke 0.0449 hanya dalam satu epoch — penurunan sekitar 90%.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epoch 3 kedua kurva sudah nyaris datar, menandakan model sudah konvergen.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validation konsisten lebih tinggi tetapi bergerak searah, tanpa tanda overfitting.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4864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55648"/>
                <a:gridCol w="1755648"/>
                <a:gridCol w="1755648"/>
                <a:gridCol w="1755648"/>
                <a:gridCol w="175564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(MSE)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0.44715463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0.04486284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0.02381170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0.01511584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0.01083626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(MSE)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0.28755158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0.15501014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0.07774028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0.04165461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0.02509921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Chart (MSE) — Training &amp;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keluaran kode Python (matplotlib) — angka identik dengan Google Sheets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464040" y="38404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64040" y="384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76809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481328"/>
            <a:ext cx="3017520" cy="3657600"/>
          </a:xfrm>
          <a:prstGeom prst="roundRect">
            <a:avLst>
              <a:gd name="adj" fmla="val 2424"/>
            </a:avLst>
          </a:prstGeom>
          <a:solidFill>
            <a:srgbClr val="2C1E4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23960" y="1691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Verifikasi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103120"/>
            <a:ext cx="2514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penyesuaian yang membuat kode cocok dengan spreadsheet: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Bobot awal dan bias = 0.5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Threshold g(z) &gt; 0.5, bukan ≥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Turunan baris training ke-80 dihitung tetapi tidak diterapkan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548640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55648"/>
                <a:gridCol w="1755648"/>
                <a:gridCol w="1755648"/>
                <a:gridCol w="1755648"/>
                <a:gridCol w="175564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306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(MSE)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0.44715463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0.04486284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0.02381170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0.01511584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0.01083626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1E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(MSE)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0.28755158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0.15501014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0.07774028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0.04165461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0.02509921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B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Tautan Pengerjaan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perhitungan manual dan repositori kode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10972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7B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836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Sheets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2860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manual SLP — 5 sheet epoch, sheet konfigurasi, sheet hasil, dan sheet trial tanpa pengacakan data.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8529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3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https://docs.google.com/spreadsheets/d/&lt;ID-SPREADSHEET-ANDA&gt;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10972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7B8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420624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1696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5720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Python lengkap: notebook, script CLI, dataset, hasil grafik, dan dokumentasi pada README.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51389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3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https://github.com/&lt;username&gt;/slp-iris-classification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617220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2C1E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tautan bersifat publik dan dapat diakses tanpa permintaan izin akses.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9611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rujukan teori, dataset, dan materi perkuliahan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713232"/>
          </a:xfrm>
          <a:prstGeom prst="rect">
            <a:avLst/>
          </a:prstGeom>
          <a:solidFill>
            <a:srgbClr val="F4F1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55064"/>
            <a:ext cx="329184" cy="329184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Rosenblatt, F. (1958).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perceptron: A probabilistic model for information storage and organization in the brain. Psychological Review, 65(6), 386–408.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414016"/>
            <a:ext cx="329184" cy="329184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221992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Fisher, R. A. (1936).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multiple measurements in taxonomic problems. Annals of Eugenics, 7(2), 179–188.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980944"/>
            <a:ext cx="10972800" cy="713232"/>
          </a:xfrm>
          <a:prstGeom prst="rect">
            <a:avLst/>
          </a:prstGeom>
          <a:solidFill>
            <a:srgbClr val="F4F1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172968"/>
            <a:ext cx="329184" cy="329184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80944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Learning. MIT Press. Bab 6 — Deep Feedforward Networks.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931920"/>
            <a:ext cx="329184" cy="329184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39896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D., &amp; Graff, C. (2019).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Data Set. UCI Machine Learning Repository. https://archive.ics.uci.edu/dataset/53/iris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498848"/>
            <a:ext cx="10972800" cy="713232"/>
          </a:xfrm>
          <a:prstGeom prst="rect">
            <a:avLst/>
          </a:prstGeom>
          <a:solidFill>
            <a:srgbClr val="F4F1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690872"/>
            <a:ext cx="329184" cy="329184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49884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Harris, C. R., et al. (2020).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programming with NumPy. Nature, 585, 357–362.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5449824"/>
            <a:ext cx="329184" cy="329184"/>
          </a:xfrm>
          <a:prstGeom prst="ellipse">
            <a:avLst/>
          </a:prstGeom>
          <a:solidFill>
            <a:srgbClr val="4430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449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2578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C1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kuliah PMML.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Perceptron &amp; Gradient Descent — template perhitungan SLP untuk klasifikasi biner.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1447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3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1 - Single Layer Perceptron</dc:title>
  <dc:subject>PptxGenJS Presentation</dc:subject>
  <dc:creator>Frans Alwan Purba</dc:creator>
  <cp:lastModifiedBy>Frans Alwan Purba</cp:lastModifiedBy>
  <cp:revision>1</cp:revision>
  <dcterms:created xsi:type="dcterms:W3CDTF">2026-09-18T03:51:33Z</dcterms:created>
  <dcterms:modified xsi:type="dcterms:W3CDTF">2026-09-18T03:51:33Z</dcterms:modified>
</cp:coreProperties>
</file>